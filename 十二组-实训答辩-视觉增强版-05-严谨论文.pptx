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文本块数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尺码推荐</c:v>
                </c:pt>
                <c:pt idx="1">
                  <c:v>洗涤养护</c:v>
                </c:pt>
                <c:pt idx="2">
                  <c:v>颜色选择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3</c:v>
                </c:pt>
                <c:pt idx="2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 · 约30秒 · 王源源主讲】</a:t>
            </a:r>
          </a:p>
          <a:p>
            <a:r>
              <a:t>各位老师好，我们是十二组，我是主讲人王源源。今天汇报一周的实训成果。</a:t>
            </a:r>
          </a:p>
          <a:p>
            <a:r>
              <a:t>我们组 12 人，分两条技术线：一条是 Java 后端的星辰WMS 仓储管理系统，另一条是 AI 大模型的 QueryMind 智能问答项目。</a:t>
            </a:r>
          </a:p>
          <a:p>
            <a:r>
              <a:t>汇报分四部分：Java 知识点、AI 知识点、两个项目、现场演示。</a:t>
            </a:r>
          </a:p>
          <a:p>
            <a:r>
              <a:t>【提醒】开场不要念太久，30 秒内进入正题。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【过渡 · 约30秒 · 王源源主讲】</a:t>
            </a:r>
          </a:p>
          <a:p>
            <a:r>
              <a:t>汇报分四块：Java 知识点、AI 知识点、两个项目、现场演示加分工作。</a:t>
            </a:r>
          </a:p>
          <a:p>
            <a:r>
              <a:t>知识点部分我们各派两位同学讲，项目部分由主要开发者讲。</a:t>
            </a:r>
          </a:p>
          <a:p>
            <a:r>
              <a:t>全程约 20 分钟，最后留时间接受提问。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【章节页 · 讲 10 秒】</a:t>
            </a:r>
          </a:p>
          <a:p>
            <a:r>
              <a:t>Java 部分我们按一周课程顺序讲四个知识点。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【Java 知识点一 · 约2分钟】</a:t>
            </a:r>
          </a:p>
          <a:p>
            <a:r>
              <a:t>第一块讲低代码。JeecgBoot 的 Online 表单能根据数据表直接生成前后端代码，Controller、Service、Mapper、Entity，还有 Vue3 的列表页和表单页，确实很快。</a:t>
            </a:r>
          </a:p>
          <a:p>
            <a:r>
              <a:t>但我们实际做的时候发现，生成的代码不能直接用，有几个坑：</a:t>
            </a:r>
          </a:p>
          <a:p>
            <a:r>
              <a:t>一是包名会生成成双层 org.jeecg.modules.wms.wms，要手动改回单层；</a:t>
            </a:r>
          </a:p>
          <a:p>
            <a:r>
              <a:t>二是权限码前缀对不上，生成的是 wms:，但数据库里预置的是 goods:，结果就是新增按钮不显示 —— 这个坑方传正和李少龙都在报告里记录了。</a:t>
            </a:r>
          </a:p>
          <a:p>
            <a:r>
              <a:t>所以结论是：低代码生成的是骨架，编码规则、状态流转、事务控制这些，必须我们自己写。</a:t>
            </a:r>
          </a:p>
          <a:p>
            <a:r>
              <a:t>【可能被问】Q：那低代码的意义是什么？</a:t>
            </a:r>
          </a:p>
          <a:p>
            <a:r>
              <a:t>A：省掉重复 CRUD，让我们把时间花在业务逻辑上。对企业来说降低了人力成本。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【Java 知识点二 · 约2分钟】</a:t>
            </a:r>
          </a:p>
          <a:p>
            <a:r>
              <a:t>第二个知识点是业务编码生成。</a:t>
            </a:r>
          </a:p>
          <a:p>
            <a:r>
              <a:t>最直接的想法是查数据库最大值加一，但这样在高并发下会出问题：两个请求同时读到 C00005，都加一，就都生成 C00006，编码重复了。</a:t>
            </a:r>
          </a:p>
          <a:p>
            <a:r>
              <a:t>正确做法是用 Redis 的 INCR，它是单线程原子操作，天然保证不重复。</a:t>
            </a:r>
          </a:p>
          <a:p>
            <a:r>
              <a:t>我们的编码规则：货主是 C 加 5 位序号，商品是 M 加 5 位，入库单是 ASN 加 8 位日期加 4 位序号。</a:t>
            </a:r>
          </a:p>
          <a:p>
            <a:r>
              <a:t>这里有个真实踩到的坑：演示数据里已经有货主编码 C23104 了，但 Redis 计数器是空的，从 0 开始。新增会生成 C00001。</a:t>
            </a:r>
          </a:p>
          <a:p>
            <a:r>
              <a:t>解决方案是三层防护：启动时用 @PostConstruct 读数据库最大编码回写 Redis；然后 INCR 生成；最后数据库唯一索引兜底。</a:t>
            </a:r>
          </a:p>
          <a:p>
            <a:r>
              <a:t>【可能被问】Q：Redis 挂了怎么办？</a:t>
            </a:r>
          </a:p>
          <a:p>
            <a:r>
              <a:t>A：唯一索引会拦住重复，业务报错重试，不会产生脏数据。这是我准备的答案。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【Java 知识点三 · 约2分钟】</a:t>
            </a:r>
          </a:p>
          <a:p>
            <a:r>
              <a:t>第三个知识点是业务状态机。</a:t>
            </a:r>
          </a:p>
          <a:p>
            <a:r>
              <a:t>入库单不是一张表那么简单，它有完整的状态流转：从初始，到待审核，审核通过，收货中，收货完成，上架中，最后上架完成。</a:t>
            </a:r>
          </a:p>
          <a:p>
            <a:r>
              <a:t>关键点在于：每一步都要校验前置状态。</a:t>
            </a:r>
          </a:p>
          <a:p>
            <a:r>
              <a:t>比如只有审核通过的入库单才能创建收货任务；只有草稿状态的单据才能提交审核，别的状态提交要直接拦截并报错。</a:t>
            </a:r>
          </a:p>
          <a:p>
            <a:r>
              <a:t>收货任务还要防止重复创建 —— 按单据加任务类型查重。</a:t>
            </a:r>
          </a:p>
          <a:p>
            <a:r>
              <a:t>这块是张浩毅主要负责的，他跑了测试用例，入库状态机 16 个用例全过，收货链路 16 个全过。</a:t>
            </a:r>
          </a:p>
          <a:p>
            <a:r>
              <a:t>【可能被问】Q：如果状态流转错了会怎样？</a:t>
            </a:r>
          </a:p>
          <a:p>
            <a:r>
              <a:t>A：会产生脏数据，比如没收货就上架，库存对不上。所以必须严格校验。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【Java 知识点四 · 约2分钟】</a:t>
            </a:r>
          </a:p>
          <a:p>
            <a:r>
              <a:t>第四个知识点是跨表一致性，这也是我们觉得最有收获的一点。</a:t>
            </a:r>
          </a:p>
          <a:p>
            <a:r>
              <a:t>在 WMS 里，一次收货操作不是改一张表，而是同时影响六张表：收货任务、执行记录、入库明细、入库主单、库存余额、库存流水。</a:t>
            </a:r>
          </a:p>
          <a:p>
            <a:r>
              <a:t>任何一张表失败，数据就乱了。所以用 @Transactional 加 rollbackFor，六张表要么全成功，要么全回滚。</a:t>
            </a:r>
          </a:p>
          <a:p>
            <a:r>
              <a:t>第二点是并发。库存更新不能用「先查出来再减」，因为两个请求可能同时查到 100，都减 1，结果变成 99 而不是 98。</a:t>
            </a:r>
          </a:p>
          <a:p>
            <a:r>
              <a:t>我们用 SQL 原子更新：SET stock_quantity = stock_quantity - N，并且加 WHERE stock_quantity &gt;= N 条件，条件不满足就更新 0 行，直接抛异常，这样不会超卖。</a:t>
            </a:r>
          </a:p>
          <a:p>
            <a:r>
              <a:t>【可能被问】Q：为什么不用悲观锁？</a:t>
            </a:r>
          </a:p>
          <a:p>
            <a:r>
              <a:t>A：原子更新性能更好，不用锁表。这是王源源报告里的原话。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【章节页 · 讲 10 秒】</a:t>
            </a:r>
          </a:p>
          <a:p>
            <a:r>
              <a:t>AI 部分我们讲四个核心概念，都是我们在项目里真正用到的。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知识点一二 · 约2分钟】</a:t>
            </a:r>
          </a:p>
          <a:p>
            <a:r>
              <a:t>先讲 Prompt 工程。刘臣风把 AI 助手迭代了三个版本：v0.1 是基础对话，v0.2 加了提示词工程，做了角色设定和防提示注入，v0.3 加了会话记忆。</a:t>
            </a:r>
          </a:p>
          <a:p>
            <a:r>
              <a:t>然后是调用方式。同步调用要等模型全部生成完才返回，用户要干等；流式调用用 SSE，逐字返回，就是打字机效果。我们的助手用的是流式。</a:t>
            </a:r>
          </a:p>
          <a:p>
            <a:r>
              <a:t>这里我要特别强调一个我们踩过的坑：知识库资料和对话历史是两回事。在 QueryMind 项目里，系统提示词把这两个混在一起，结果模型表现得「像没有记忆一样」。分开注入之后就正常了。</a:t>
            </a:r>
          </a:p>
          <a:p>
            <a:r>
              <a:t>【可能被问】Q：怎么防止提示注入？</a:t>
            </a:r>
          </a:p>
          <a:p>
            <a:r>
              <a:t>A：系统提示词里明确拒绝角色覆盖类指令，这是刘臣风报告里写的。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知识点三 · 约2分钟】</a:t>
            </a:r>
          </a:p>
          <a:p>
            <a:r>
              <a:t>第三个是 Function Calling，工具调用。</a:t>
            </a:r>
          </a:p>
          <a:p>
            <a:r>
              <a:t>如果直接问大模型「A 商品还有多少库存」，它会编一个数字给你，因为它不知道你的数据库。</a:t>
            </a:r>
          </a:p>
          <a:p>
            <a:r>
              <a:t>解决办法是把后端的查询方法用 @Tool 注解注册成工具，模型会自己判断什么时候该调用这个工具。</a:t>
            </a:r>
          </a:p>
          <a:p>
            <a:r>
              <a:t>流程是这样的：用户问「郑州仓还有多少 A 商品」，模型识别出需要查库存，就调用我们注册的工具，工具去查数据库，模型再拿真实数据组织成自然语言回答。</a:t>
            </a:r>
          </a:p>
          <a:p>
            <a:r>
              <a:t>我们在 WmsInventoryTools 里注册了四个工具：库存、仓库、货主、商品。</a:t>
            </a:r>
          </a:p>
          <a:p>
            <a:r>
              <a:t>关键是：模型负责理解人话，但数据必须来自数据库。</a:t>
            </a:r>
          </a:p>
          <a:p>
            <a:r>
              <a:t>【可能被问】Q：这和 RAG 有什么区别？</a:t>
            </a:r>
          </a:p>
          <a:p>
            <a:r>
              <a:t>A：RAG 检索的是文档知识，工具调用查的是实时业务数据，两者互补。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【AI 知识点四 · 约2分钟】</a:t>
            </a:r>
          </a:p>
          <a:p>
            <a:r>
              <a:t>第四个是 RAG，检索增强生成，这是 QueryMind 项目的核心。</a:t>
            </a:r>
          </a:p>
          <a:p>
            <a:r>
              <a:t>四个步骤：第一，把文档切块，我们设的块大小是 1000，重叠 100；第二，用 embedding 模型把文本变成向量；第三，存进向量数据库，我们用的是 Chroma；第四，用户提问时把问题也向量化，找出最相似的 3 个块。</a:t>
            </a:r>
          </a:p>
          <a:p>
            <a:r>
              <a:t>为什么需要 RAG？因为大模型的知识有截止日期，而且完全不知道你的私有资料。RAG 的思路是：先去你的资料里检索出相关内容，再把内容塞进提示词，让模型看着材料回答，而不是凭空发挥。</a:t>
            </a:r>
          </a:p>
          <a:p>
            <a:r>
              <a:t>好处是答案有依据、可以溯源，而且不用重新训练模型。</a:t>
            </a:r>
          </a:p>
          <a:p>
            <a:r>
              <a:t>【可能被问】Q：为什么块大小设 1000？</a:t>
            </a:r>
          </a:p>
          <a:p>
            <a:r>
              <a:t>A：太小会丢失上下文，太大检索不精准，1000 是常用的折中值。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【章节页 · 讲 10 秒】</a:t>
            </a:r>
          </a:p>
          <a:p>
            <a:r>
              <a:t>下面讲两个项目。第一个是星辰WMS，第二个是 QueryMind。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【项目一 · 星辰WMS 概览 · 约1.5分钟】</a:t>
            </a:r>
          </a:p>
          <a:p>
            <a:r>
              <a:t>星辰WMS 是一套面向中小型仓储企业的仓库管理系统，由江苏传智播客提供教学资源和工程基线，开发库有 148 张业务表。</a:t>
            </a:r>
          </a:p>
          <a:p>
            <a:r>
              <a:t>技术栈：后端 Java 17、Spring Boot 3.4.5、MyBatis-Plus，基于 JeecgBoot 3.8.1 低代码平台；前端 Vue 3 加 TypeScript；数据库 MySQL 8 和 Redis；AI 部分用 Spring AI 加 PGVector。</a:t>
            </a:r>
          </a:p>
          <a:p>
            <a:r>
              <a:t>我们跑通的业务主链路是：创建入库单，维护明细，提交审核，审核通过后创建收货任务，分次收货并记录良品和不良品，全部收完后自动创建上架任务，执行上架，最后库存更新。</a:t>
            </a:r>
          </a:p>
          <a:p>
            <a:r>
              <a:t>测试证据是我们自己跑的：仓库管理 12 个用例全过，入库状态机 16 个全过，收货 16 个，库存 16 个。</a:t>
            </a:r>
          </a:p>
          <a:p>
            <a:r>
              <a:t>【注意】这里说的都是我们实测的，不吹并发量、QPS 这类没测的指标。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【项目一 · 架构 · 约1分钟】</a:t>
            </a:r>
          </a:p>
          <a:p>
            <a:r>
              <a:t>架构分四层。</a:t>
            </a:r>
          </a:p>
          <a:p>
            <a:r>
              <a:t>最上面是前端层，Vue 3 加 Ant Design Vue，负责页面、表单、权限按钮，还有 Excel 和打印的交互。</a:t>
            </a:r>
          </a:p>
          <a:p>
            <a:r>
              <a:t>业务层是我们开发最多的地方：入库、收货、上架、库存，还有 AI 助手，核心难点是状态机和跨表一致性。</a:t>
            </a:r>
          </a:p>
          <a:p>
            <a:r>
              <a:t>基础层是 JeecgBoot 提供的：Shiro 做认证授权、JWT 做令牌、数据字典和代码生成。</a:t>
            </a:r>
          </a:p>
          <a:p>
            <a:r>
              <a:t>数据层是 MySQL 8 存业务数据，Redis 存登录会话、业务流水号，还有 AI 的会话记忆。</a:t>
            </a:r>
          </a:p>
          <a:p>
            <a:r>
              <a:t>【可能被问】Q：为什么用 Redis 存 AI 记忆？</a:t>
            </a:r>
          </a:p>
          <a:p>
            <a:r>
              <a:t>A：会话记忆是临时的、有 TTL 的，放 Redis 比放 MySQL 合适。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【项目一 · AI 助手 · 约1.5分钟】</a:t>
            </a:r>
          </a:p>
          <a:p>
            <a:r>
              <a:t>这是星辰WMS 里我们最想展示的部分：AI 仓库助手。</a:t>
            </a:r>
          </a:p>
          <a:p>
            <a:r>
              <a:t>它不是一个独立的聊天玩具，而是接在业务系统里的。</a:t>
            </a:r>
          </a:p>
          <a:p>
            <a:r>
              <a:t>接口是 /ai/chat 和 /ai/chat/send，用 Flux 加 SSE 做流式返回，前端是打字机效果。Shiro 里放行了 /ai/ 开头的路径。</a:t>
            </a:r>
          </a:p>
          <a:p>
            <a:r>
              <a:t>它叠加了三个能力：</a:t>
            </a:r>
          </a:p>
          <a:p>
            <a:r>
              <a:t>第一，会话记忆，用 Redis 按用户加会话的维度存储；</a:t>
            </a:r>
          </a:p>
          <a:p>
            <a:r>
              <a:t>第二，RAG，绑定知识库的时候用 PGVector 检索；</a:t>
            </a:r>
          </a:p>
          <a:p>
            <a:r>
              <a:t>第三，工具调用，通过 WmsInventoryTools 提供实时的业务数据。</a:t>
            </a:r>
          </a:p>
          <a:p>
            <a:r>
              <a:t>这段代码是王源源报告里摘的，把记忆、RAG、工具、流式串在一起。</a:t>
            </a:r>
          </a:p>
          <a:p>
            <a:r>
              <a:t>【诚实说明】AI 的端到端测试是部分通过的，部分 SSE 请求存在挂起问题，这是张浩毅报告里如实写的，我们没藏。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【项目一 · 局限 · 约1分钟】</a:t>
            </a:r>
          </a:p>
          <a:p>
            <a:r>
              <a:t>这一页我们想主动说清楚没做完的部分，因为诚实比掩饰加分。</a:t>
            </a:r>
          </a:p>
          <a:p>
            <a:r>
              <a:t>第一，出库业务的闭环没有做同等验证。入库链路我们跑了 60 个用例，但出库只有代码，缺少同等测试覆盖。</a:t>
            </a:r>
          </a:p>
          <a:p>
            <a:r>
              <a:t>第二，AI 流式稳定性有问题，部分 SSE 请求会挂起，需要加重试和超时。</a:t>
            </a:r>
          </a:p>
          <a:p>
            <a:r>
              <a:t>第三，库存并发我们已经用 SQL 原子更新防了数量覆盖，但幂等性，也就是重复提交的防护，还没做完整。</a:t>
            </a:r>
          </a:p>
          <a:p>
            <a:r>
              <a:t>第四，密钥治理和持续集成测试还没有，目前靠环境变量注入密钥。</a:t>
            </a:r>
          </a:p>
          <a:p>
            <a:r>
              <a:t>这些是张浩毅、王源源报告里如实记录的，我们下一阶段的目标。</a:t>
            </a:r>
          </a:p>
          <a:p>
            <a:r>
              <a:t>【可能被问】Q：那你们的系统能上线吗？</a:t>
            </a:r>
          </a:p>
          <a:p>
            <a:r>
              <a:t>A：还不能，缺出库测试、幂等防护和 CI。我们清楚差距在哪。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【项目二 · QueryMind 概览 · 约1.5分钟】</a:t>
            </a:r>
          </a:p>
          <a:p>
            <a:r>
              <a:t>第二个项目是 QueryMind，一个服装导购的 RAG 问答系统，这是 AI 大模型方向的实训项目。</a:t>
            </a:r>
          </a:p>
          <a:p>
            <a:r>
              <a:t>要解决的问题很具体：用户问「我 170 厘米、120 斤穿什么码」，或者「真丝连衣裙怎么洗」。这些答案其实就在商品资料里，但大模型本身不知道。</a:t>
            </a:r>
          </a:p>
          <a:p>
            <a:r>
              <a:t>技术栈是 Python 3.14，用 uv 管包，LangChain 1.4.0，向量库用 langchain-chroma，embedding 用 DashScope 的 text-embedding-v4，对话模型是通义千问 qwen3.7-flash，界面用 Streamlit。</a:t>
            </a:r>
          </a:p>
          <a:p>
            <a:r>
              <a:t>系统分两个服务：上传服务在 8502 端口，负责把商品资料切块、向量化、入库；问答服务在 8501 端口，负责检索和生成回答。</a:t>
            </a:r>
          </a:p>
          <a:p>
            <a:r>
              <a:t>关键参数：块大小 1000、重叠 100、检索取前 3 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【项目二 · 实测数据 · 约2分钟】</a:t>
            </a:r>
          </a:p>
          <a:p>
            <a:r>
              <a:t>这页是 QueryMind 的实测数据，数字全部来自项目说明第 6 节，我们没有编造任何指标。</a:t>
            </a:r>
          </a:p>
          <a:p>
            <a:r>
              <a:t>知识库这边：3 个文档切成了 6 个文本块，其中尺码推荐 1 块、洗涤养护 3 块、颜色选择 2 块。</a:t>
            </a:r>
          </a:p>
          <a:p>
            <a:r>
              <a:t>流式输出方面，一次回答产生 36 个流式片段。</a:t>
            </a:r>
          </a:p>
          <a:p>
            <a:r>
              <a:t>记忆功能：写入 2 条记忆，重建对象后能读回 2 条。</a:t>
            </a:r>
          </a:p>
          <a:p>
            <a:r>
              <a:t>右边是四组真实问答测试，我挑两个讲：</a:t>
            </a:r>
          </a:p>
          <a:p>
            <a:r>
              <a:t>第一个，输入「身高 170 厘米、体重 120 斤」，系统推荐 L 码，对应 165 到 175 厘米、115 到 135 斤，回答正确。</a:t>
            </a:r>
          </a:p>
          <a:p>
            <a:r>
              <a:t>第二个是追问场景：「真丝连衣裙怎么洗」之后问「那羽绒服呢」，这句话没有主语，系统做了查询改写，改成「羽绒服怎么洗」，正确命中了洗涤养护的资料。</a:t>
            </a:r>
          </a:p>
          <a:p>
            <a:r>
              <a:t>第四个有意思：「我多高」，系统从对话历史里答出 180 厘米。</a:t>
            </a:r>
          </a:p>
          <a:p>
            <a:r>
              <a:t>【可能被问】Q：准确率是多少？</a:t>
            </a:r>
          </a:p>
          <a:p>
            <a:r>
              <a:t>A：我们没做大样本评测，只有这四组实测案例，不能说准确率百分比。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【项目二 · Bug 复盘 · 约2分钟】</a:t>
            </a:r>
          </a:p>
          <a:p>
            <a:r>
              <a:t>这页讲四个我们真实踩到的 bug，我觉得比功能列表更有价值。</a:t>
            </a:r>
          </a:p>
          <a:p>
            <a:r>
              <a:t>第一个：Streamlit 报 UploadedFile 没有 filename 属性。原因是 Streamlit 新版本把 filename 改名成了 name 和 type，改用 .name 就好了。这是版本升级导致的 API 变更。</a:t>
            </a:r>
          </a:p>
          <a:p>
            <a:r>
              <a:t>第二个：追问召回不准。用户问「那羽绒服呢」，这句话没有主语，向量检索命中不到正确资料。我们加了查询改写，先补全主语再检索。</a:t>
            </a:r>
          </a:p>
          <a:p>
            <a:r>
              <a:t>第三个最典型：模型表现得「像没有记忆」。排查后发现根因是系统提示词把「知识库资料」和「对话历史」混在一起了，模型分不清哪个是哪个。分开注入之后就正常了。</a:t>
            </a:r>
          </a:p>
          <a:p>
            <a:r>
              <a:t>第四个：DashScope 报 400，Field required: input.contents。原因是原生 SDK 和 OpenAIEmbeddings 不兼容，改用 DashScope 原生 SDK。</a:t>
            </a:r>
          </a:p>
          <a:p>
            <a:r>
              <a:t>【可能被问】Q：哪个 bug 最难查？</a:t>
            </a:r>
          </a:p>
          <a:p>
            <a:r>
              <a:t>A：第三个。因为它不报错，只是表现不对，需要一行行看提示词才能定位。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【承上启下 · 约1分钟】</a:t>
            </a:r>
          </a:p>
          <a:p>
            <a:r>
              <a:t>这里我想说明一下，这两个项目不是割裂的，而是一条技术线。</a:t>
            </a:r>
          </a:p>
          <a:p>
            <a:r>
              <a:t>星辰WMS 是 Java 那周做的，重点是把 AI 接进企业业务系统，用自然语言查库存，靠的是工具调用和 RAG。</a:t>
            </a:r>
          </a:p>
          <a:p>
            <a:r>
              <a:t>QueryMind 是 AI 那周做的，把 RAG 做深做透，是一个独立完整的检索问答系统，还做了查询改写这种细节优化。</a:t>
            </a:r>
          </a:p>
          <a:p>
            <a:r>
              <a:t>共同点是：都是让大模型基于真实资料回答，一个面向业务数据，一个面向文档知识。</a:t>
            </a:r>
          </a:p>
          <a:p>
            <a:r>
              <a:t>这也正好对应我们实训的两周安排。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【分工介绍 · 约2分钟 · 全体参与 · 王源源主持】</a:t>
            </a:r>
          </a:p>
          <a:p>
            <a:r>
              <a:t>这一页由 12 位组员依次起立，每人讲自己那一句。</a:t>
            </a:r>
          </a:p>
          <a:p>
            <a:r>
              <a:t>王源源负责点名叫人，顺序就按屏幕上的顺序。</a:t>
            </a:r>
          </a:p>
          <a:p>
            <a:r>
              <a:t>标准句式：「大家好，我是 XXX，我负责……」。</a:t>
            </a:r>
          </a:p>
          <a:p>
            <a:r>
              <a:t>【重要提醒 1】郝钰博和于荣钊的报告内容几乎一样，两人务必按上面区分的讲：</a:t>
            </a:r>
          </a:p>
          <a:p>
            <a:r>
              <a:t>  于荣钊讲「仓库储位主档 + AI 智能体」</a:t>
            </a:r>
          </a:p>
          <a:p>
            <a:r>
              <a:t>  郝钰博讲「货主主档 + AI 对话机器人」</a:t>
            </a:r>
          </a:p>
          <a:p>
            <a:r>
              <a:t>  绝对不要都讲货主模块。</a:t>
            </a:r>
          </a:p>
          <a:p>
            <a:r>
              <a:t>【重要提醒 2】吴梓欣的报告写的是另一套技术栈的系统，让他只讲业务功能（出入库、盘点、报表），不要报版本号。</a:t>
            </a:r>
          </a:p>
          <a:p>
            <a:r>
              <a:t>【重要提醒 3】王子卓的报告最空，让他讲需求分析和表结构设计，回避代码细节追问。</a:t>
            </a:r>
          </a:p>
          <a:p>
            <a:r>
              <a:t>每人控制在 10 秒内，12 人共约 2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【现场演示 · 约5分钟】</a:t>
            </a:r>
          </a:p>
          <a:p>
            <a:r>
              <a:t>演示分两部分，先 Java 后 AI。</a:t>
            </a:r>
          </a:p>
          <a:p>
            <a:r>
              <a:t>星辰WMS 这边：先确认后端 8080 和前端 3100 都起来了，用 admin 登录。然后走一遍入库闭环 —— 新增入库单，注意 ASN 单号是自动生成的；维护明细，提交审核，审核通过；创建收货任务，分次收货，再上架。最后查库存，看数量变化和流水记录。如果时间够，打开 AI 助手问一句「查一下库存」，看它是不是真的调用了工具查数据库。</a:t>
            </a:r>
          </a:p>
          <a:p>
            <a:r>
              <a:t>QueryMind 这边：打开 8501 页面，问「我 170 厘米 120 斤穿什么码」，应该回答 L 码；然后问「真丝连衣裙怎么洗」，接着追问「那羽绒服呢」，看查询改写是否生效；最后问「我多高」，看它能不能从对话历史里答出 180 厘米。</a:t>
            </a:r>
          </a:p>
          <a:p>
            <a:r>
              <a:t>【应急预案】</a:t>
            </a:r>
          </a:p>
          <a:p>
            <a:r>
              <a:t>· 如果后端起不来：切到备用录屏，不要当场卡住</a:t>
            </a:r>
          </a:p>
          <a:p>
            <a:r>
              <a:t>· 如果 AI 接口挂起（已知问题）：直接说「这是我们报告里写的SSE 挂起问题，我们准备了截图」，然后切截图 —— 坦诚反而加分</a:t>
            </a:r>
          </a:p>
          <a:p>
            <a:r>
              <a:t>· 演示前务必提前跑一遍，确认数据库有数据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【内部清单页 · 王源源过一遍 · 约 30 秒】</a:t>
            </a:r>
          </a:p>
          <a:p>
            <a:r>
              <a:t>这一页是答辩前的自查清单，也可以直接跳过。</a:t>
            </a:r>
          </a:p>
          <a:p/>
          <a:p>
            <a:r>
              <a:t>关于「演示者视图」怎么开（王源源操作）：</a:t>
            </a:r>
          </a:p>
          <a:p>
            <a:r>
              <a:t>1. 笔记本接上投影 / 外接屏</a:t>
            </a:r>
          </a:p>
          <a:p>
            <a:r>
              <a:t>2. 按 Win + P，选择「扩展」（不是复制）</a:t>
            </a:r>
          </a:p>
          <a:p>
            <a:r>
              <a:t>3. PowerPoint 里点「幻灯片放映」→ 勾选「使用演示者视图」</a:t>
            </a:r>
          </a:p>
          <a:p>
            <a:r>
              <a:t>4. 放映后：投影上观众只看到幻灯片，</a:t>
            </a:r>
          </a:p>
          <a:p>
            <a:r>
              <a:t>   你的笔记本屏幕上能看到备注、下一页预览和计时器</a:t>
            </a:r>
          </a:p>
          <a:p>
            <a:r>
              <a:t>本文件每一页的备注都已写好，就是为这个模式准备的。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【结束 · 进入提问环节 · 王源源主持】</a:t>
            </a:r>
          </a:p>
          <a:p>
            <a:r>
              <a:t>谢谢各位老师，我们汇报完毕，请老师提问。</a:t>
            </a:r>
          </a:p>
          <a:p>
            <a:r>
              <a:t>王源源负责调度：会答的举手答，不会的把问题转给对应模块的同学。</a:t>
            </a:r>
          </a:p>
          <a:p/>
          <a:p>
            <a:r>
              <a:t>【高频问题预备答案】</a:t>
            </a:r>
          </a:p>
          <a:p>
            <a:r>
              <a:t>Q1：为什么用 Redis 而不是数据库生成编码？</a:t>
            </a:r>
          </a:p>
          <a:p>
            <a:r>
              <a:t>A：数据库查最大值加一在并发下会重复，Redis INCR 是单线程原子操作。</a:t>
            </a:r>
          </a:p>
          <a:p/>
          <a:p>
            <a:r>
              <a:t>Q2：RAG 的块大小为什么是 1000？</a:t>
            </a:r>
          </a:p>
          <a:p>
            <a:r>
              <a:t>A：太小丢上下文，太大检索不准，1000 是常用折中值，重叠 100 防止切断句子。</a:t>
            </a:r>
          </a:p>
          <a:p/>
          <a:p>
            <a:r>
              <a:t>Q3：工具调用和 RAG 的区别？</a:t>
            </a:r>
          </a:p>
          <a:p>
            <a:r>
              <a:t>A：RAG 检索文档知识，工具调用查实时业务数据，两者互补。</a:t>
            </a:r>
          </a:p>
          <a:p/>
          <a:p>
            <a:r>
              <a:t>Q4：你们系统的准确率是多少？</a:t>
            </a:r>
          </a:p>
          <a:p>
            <a:r>
              <a:t>A：我们只做了小样本实测，没有做大样本评测，不敢给准确率百分比。实测案例在报告第 6 节。</a:t>
            </a:r>
          </a:p>
          <a:p/>
          <a:p>
            <a:r>
              <a:t>Q5：项目最大的不足是什么？</a:t>
            </a:r>
          </a:p>
          <a:p>
            <a:r>
              <a:t>A：出库业务闭环未做同等测试验证；AI SSE 流式存在挂起；幂等性和 CI 还没做。这些我们报告里都如实写了。</a:t>
            </a:r>
          </a:p>
          <a:p/>
          <a:p>
            <a:r>
              <a:t>Q6：你个人最大的收获？</a:t>
            </a:r>
          </a:p>
          <a:p>
            <a:r>
              <a:t>A：（按各自报告结尾的总结回答，每人准备一句，不要背同一句）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965960"/>
            <a:ext cx="100584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5200" b="1">
                <a:solidFill>
                  <a:srgbClr val="141414"/>
                </a:solidFill>
                <a:latin typeface="微软雅黑"/>
              </a:rPr>
              <a:t>星辰WMS × QueryMind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63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8C1C13"/>
                </a:solidFill>
                <a:latin typeface="微软雅黑"/>
              </a:rPr>
              <a:t>一周 Java 与 AI 大模型实训总结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3977639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  <a:latin typeface="微软雅黑"/>
              </a:rPr>
              <a:t>南阳师范学院 · 软件工程学院 · 校企合作实训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  <a:latin typeface="微软雅黑"/>
              </a:rPr>
              <a:t>十二组 · 组员 12 人 · 指导教师 倪天臣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7A7A7A"/>
                </a:solidFill>
                <a:latin typeface="微软雅黑"/>
              </a:rPr>
              <a:t>主讲人：王源源　|　答辩日期 2026-09-21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今天的汇报分四块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先知识点，再项目，最后现场跑给你看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8C1C13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1051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141414"/>
                </a:solidFill>
                <a:latin typeface="微软雅黑"/>
              </a:rPr>
              <a:t>一周 Java 知识点总结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21408" y="224028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7A7A7A"/>
                </a:solidFill>
                <a:latin typeface="微软雅黑"/>
              </a:rPr>
              <a:t>低代码、Redis 编码、状态机、事务一致性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52928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8C1C13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834640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141414"/>
                </a:solidFill>
                <a:latin typeface="微软雅黑"/>
              </a:rPr>
              <a:t>一周 AI 大模型知识点总结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326440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7A7A7A"/>
                </a:solidFill>
                <a:latin typeface="微软雅黑"/>
              </a:rPr>
              <a:t>Prompt、Function Calling、RAG、记忆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877056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8C1C13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858768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141414"/>
                </a:solidFill>
                <a:latin typeface="微软雅黑"/>
              </a:rPr>
              <a:t>项目内容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21408" y="4288536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7A7A7A"/>
                </a:solidFill>
                <a:latin typeface="微软雅黑"/>
              </a:rPr>
              <a:t>星辰WMS（Java）+ QueryMind（RAG）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01184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8C1C13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882896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100" b="1">
                <a:solidFill>
                  <a:srgbClr val="141414"/>
                </a:solidFill>
                <a:latin typeface="微软雅黑"/>
              </a:rPr>
              <a:t>现场演示与分工介绍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21408" y="5312664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7A7A7A"/>
                </a:solidFill>
                <a:latin typeface="微软雅黑"/>
              </a:rPr>
              <a:t>两个项目实际运行 + 12 人各自分工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141414"/>
                </a:solidFill>
                <a:latin typeface="微软雅黑"/>
              </a:rPr>
              <a:t>01 · 一周 Java 知识点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8C1C13"/>
                </a:solidFill>
                <a:latin typeface="微软雅黑"/>
              </a:rPr>
              <a:t>从低代码生成到企业级业务一致性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知识点一：低代码不是不用写代码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JeecgBoot Online 表单 —— 生成的是骨架，业务逻辑要自己写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440680" cy="29260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/>
              </a:rPr>
              <a:t>✅ Online 表单做三件事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根据数据表反向生成 Controller / Service / Mapper / Entity + Vue3 页面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自动接好数据字典、分页、权限按钮等脚手架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一键产出可运行骨架，省掉重复 CRUD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508760"/>
            <a:ext cx="5440680" cy="292608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D97706"/>
                </a:solidFill>
                <a:latin typeface="微软雅黑"/>
              </a:rPr>
              <a:t>⚠️ 生成后必须人工改造（踩过的坑）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包名重复：org.jeecg.modules.wms.wms → 改回单层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权限码不匹配：生成 wms: 前缀，数据库预置 goods: 前缀，按钮不显示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编码规则、状态流转、事务边界 —— 没有任何工具能帮你生成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4983480"/>
            <a:ext cx="11201400" cy="9601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65F46"/>
                </a:solidFill>
                <a:latin typeface="微软雅黑"/>
              </a:rPr>
              <a:t>一句话总结：低代码省掉的是重复 CRUD，省不掉的是业务理解。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知识点二：用 Redis 生成业务编码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为什么不能用「查最大值 +1」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5440680" cy="196596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DC2626"/>
                </a:solidFill>
                <a:latin typeface="微软雅黑"/>
              </a:rPr>
              <a:t>❌ 错误做法：查最大值 +1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SELECT MAX(code) FROM table → +1 → INSERT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并发下两个请求读到同一个最大值 → 编码重复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440680" cy="19659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059669"/>
                </a:solidFill>
                <a:latin typeface="微软雅黑"/>
              </a:rPr>
              <a:t>✅ 正确做法：Redis INCR 原子自增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单线程原子操作，天然不重复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货主 C+5位 · 商品 M+5位 · 入库单 ASN+8位日期+4位序号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03320"/>
            <a:ext cx="73152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微软雅黑"/>
              </a:rPr>
              <a:t>三层防护（李少龙、肖阳祯的实现）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206240"/>
            <a:ext cx="320040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① 启动时 @PostConstruct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读数据库最大编码回写 Redis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206240"/>
            <a:ext cx="320040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② Redis INCR 原子自增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生成业务序号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4206240"/>
            <a:ext cx="320040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③ 数据库唯一索引兜底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最后一道防线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794760" y="4553712"/>
            <a:ext cx="3657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7635240" y="4553712"/>
            <a:ext cx="3657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5577840"/>
            <a:ext cx="11201400" cy="73152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92400E"/>
                </a:solidFill>
                <a:latin typeface="微软雅黑"/>
              </a:rPr>
              <a:t>真实遇到的坑：演示数据已有 C23104，Redis 计数器从 0 起步 → 启动同步后新增 C23105 正确接续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知识点三：业务状态机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入库单不能随便改状态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1371600" cy="658368"/>
          </a:xfrm>
          <a:prstGeom prst="rect">
            <a:avLst/>
          </a:prstGeom>
          <a:solidFill>
            <a:srgbClr val="8C1C13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初始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58568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8" name="Rectangle 7"/>
          <p:cNvSpPr/>
          <p:nvPr/>
        </p:nvSpPr>
        <p:spPr>
          <a:xfrm>
            <a:off x="2441448" y="2011680"/>
            <a:ext cx="1371600" cy="658368"/>
          </a:xfrm>
          <a:prstGeom prst="rect">
            <a:avLst/>
          </a:prstGeom>
          <a:solidFill>
            <a:srgbClr val="FBF8F5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2E2E"/>
                </a:solidFill>
                <a:latin typeface="微软雅黑"/>
              </a:rPr>
              <a:t>待审核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1335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14215" y="2011680"/>
            <a:ext cx="1371600" cy="658368"/>
          </a:xfrm>
          <a:prstGeom prst="rect">
            <a:avLst/>
          </a:prstGeom>
          <a:solidFill>
            <a:srgbClr val="FBF8F5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2E2E"/>
                </a:solidFill>
                <a:latin typeface="微软雅黑"/>
              </a:rPr>
              <a:t>审核通过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4104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86983" y="2011680"/>
            <a:ext cx="1371600" cy="658368"/>
          </a:xfrm>
          <a:prstGeom prst="rect">
            <a:avLst/>
          </a:prstGeom>
          <a:solidFill>
            <a:srgbClr val="8C1C13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收货中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1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9751" y="2011680"/>
            <a:ext cx="1371600" cy="658368"/>
          </a:xfrm>
          <a:prstGeom prst="rect">
            <a:avLst/>
          </a:prstGeom>
          <a:solidFill>
            <a:srgbClr val="FBF8F5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2E2E"/>
                </a:solidFill>
                <a:latin typeface="微软雅黑"/>
              </a:rPr>
              <a:t>收货完成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19" y="2011680"/>
            <a:ext cx="1371600" cy="658368"/>
          </a:xfrm>
          <a:prstGeom prst="rect">
            <a:avLst/>
          </a:prstGeom>
          <a:solidFill>
            <a:srgbClr val="FBF8F5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E2E2E"/>
                </a:solidFill>
                <a:latin typeface="微软雅黑"/>
              </a:rPr>
              <a:t>上架中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22407" y="2011680"/>
            <a:ext cx="365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2000" b="0">
                <a:solidFill>
                  <a:srgbClr val="7A7A7A"/>
                </a:solidFill>
                <a:latin typeface="微软雅黑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05288" y="2011680"/>
            <a:ext cx="1371600" cy="658368"/>
          </a:xfrm>
          <a:prstGeom prst="rect">
            <a:avLst/>
          </a:prstGeom>
          <a:solidFill>
            <a:srgbClr val="8C1C13"/>
          </a:solidFill>
          <a:ln>
            <a:solidFill>
              <a:srgbClr val="8C1C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上架完成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20040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每个环节都要校验前置状态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只有「审核通过」的入库单才能创建收货任务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只有「草稿」状态的单据才能提交审核，其他状态直接拦截并抛业务异常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收货任务按「单据 + 任务类型」查重，防止重复创建</a:t>
            </a:r>
          </a:p>
          <a:p>
            <a:pPr algn="l">
              <a:spcAft>
                <a:spcPts val="700"/>
              </a:spcAft>
            </a:pPr>
            <a:r>
              <a:rPr sz="800" b="0">
                <a:solidFill>
                  <a:srgbClr val="2E2E2E"/>
                </a:solidFill>
                <a:latin typeface="微软雅黑"/>
              </a:rPr>
              <a:t/>
            </a:r>
          </a:p>
          <a:p>
            <a:pPr algn="l">
              <a:spcAft>
                <a:spcPts val="700"/>
              </a:spcAft>
            </a:pPr>
            <a:r>
              <a:rPr sz="1900" b="1">
                <a:solidFill>
                  <a:srgbClr val="1F4E79"/>
                </a:solidFill>
                <a:latin typeface="微软雅黑"/>
              </a:rPr>
              <a:t>实测结果（张浩毅报告记录）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入库状态机 16/16 用例通过 · 收货链路 16/16 通过 · 库存链路 16/16 通过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知识点四：一次「收货」操作要动六张表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跨表一致性 —— 事务与原子更新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2788920"/>
            <a:ext cx="2514600" cy="11430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</a:rPr>
              <a:t>一次「收货」操作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320040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① 收货任务表 · 更新任务进度</a:t>
            </a:r>
          </a:p>
        </p:txBody>
      </p:sp>
      <p:sp>
        <p:nvSpPr>
          <p:cNvPr id="6" name="Left Arrow 5"/>
          <p:cNvSpPr/>
          <p:nvPr/>
        </p:nvSpPr>
        <p:spPr>
          <a:xfrm>
            <a:off x="3886200" y="1746504"/>
            <a:ext cx="365760" cy="274320"/>
          </a:xfrm>
          <a:prstGeom prst="lef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606040"/>
            <a:ext cx="320040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② 任务执行记录 · 良品 / 不良品</a:t>
            </a:r>
          </a:p>
        </p:txBody>
      </p:sp>
      <p:sp>
        <p:nvSpPr>
          <p:cNvPr id="8" name="Left Arrow 7"/>
          <p:cNvSpPr/>
          <p:nvPr/>
        </p:nvSpPr>
        <p:spPr>
          <a:xfrm>
            <a:off x="3886200" y="2935224"/>
            <a:ext cx="365760" cy="274320"/>
          </a:xfrm>
          <a:prstGeom prst="lef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794760"/>
            <a:ext cx="320040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③ 入库单明细表 · 更新已收数量</a:t>
            </a:r>
          </a:p>
        </p:txBody>
      </p:sp>
      <p:sp>
        <p:nvSpPr>
          <p:cNvPr id="10" name="Left Arrow 9"/>
          <p:cNvSpPr/>
          <p:nvPr/>
        </p:nvSpPr>
        <p:spPr>
          <a:xfrm>
            <a:off x="3886200" y="4123944"/>
            <a:ext cx="365760" cy="274320"/>
          </a:xfrm>
          <a:prstGeom prst="lef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58200" y="1417320"/>
            <a:ext cx="320040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④ 入库单主表 · 汇总收货进度</a:t>
            </a:r>
          </a:p>
        </p:txBody>
      </p:sp>
      <p:sp>
        <p:nvSpPr>
          <p:cNvPr id="12" name="Left Arrow 11"/>
          <p:cNvSpPr/>
          <p:nvPr/>
        </p:nvSpPr>
        <p:spPr>
          <a:xfrm>
            <a:off x="7863840" y="1746504"/>
            <a:ext cx="365760" cy="274320"/>
          </a:xfrm>
          <a:prstGeom prst="lef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58200" y="2606040"/>
            <a:ext cx="320040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⑤ 库存余额表 · 增加库存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7863840" y="2935224"/>
            <a:ext cx="365760" cy="274320"/>
          </a:xfrm>
          <a:prstGeom prst="lef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58200" y="3794760"/>
            <a:ext cx="320040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⑥ 库存流水表 · 记录每次变动</a:t>
            </a:r>
          </a:p>
        </p:txBody>
      </p:sp>
      <p:sp>
        <p:nvSpPr>
          <p:cNvPr id="16" name="Left Arrow 15"/>
          <p:cNvSpPr/>
          <p:nvPr/>
        </p:nvSpPr>
        <p:spPr>
          <a:xfrm>
            <a:off x="7863840" y="4123944"/>
            <a:ext cx="365760" cy="274320"/>
          </a:xfrm>
          <a:prstGeom prst="lef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920" y="5394960"/>
            <a:ext cx="11201400" cy="86868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991B1B"/>
                </a:solidFill>
                <a:latin typeface="微软雅黑"/>
              </a:rPr>
              <a:t>全部在同一个事务内提交 —— 任一步失败，整体回滚（事务一致性）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141414"/>
                </a:solidFill>
                <a:latin typeface="微软雅黑"/>
              </a:rPr>
              <a:t>02 · 一周 AI 大模型知识点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F4E79"/>
                </a:solidFill>
                <a:latin typeface="微软雅黑"/>
              </a:rPr>
              <a:t>从「会聊天」到「能查业务数据」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知识点一、二：Prompt 工程与模型调用方式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以及一个必须知道的区别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440680" cy="2240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/>
              </a:rPr>
              <a:t>Prompt 工程（AI 助手 v0.1 → v0.3）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角色设定：让模型知道自己是仓储助手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防提示注入：拒绝「忽略以上指令」这类越狱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v0.3 增加会话记忆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17320"/>
            <a:ext cx="5440680" cy="2240280"/>
          </a:xfrm>
          <a:prstGeom prst="roundRect">
            <a:avLst/>
          </a:prstGeom>
          <a:solidFill>
            <a:srgbClr val="F5F3FF"/>
          </a:solidFill>
          <a:ln w="1587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7C3AED"/>
                </a:solidFill>
                <a:latin typeface="微软雅黑"/>
              </a:rPr>
              <a:t>同步 vs 流式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同步：等模型全部生成完才返回 → 用户干等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流式：SSE / Flux，逐字返回 → 打字机效果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我们的 AI 助手用的就是流式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069080"/>
            <a:ext cx="356616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知识库资料</a:t>
            </a:r>
          </a:p>
        </p:txBody>
      </p:sp>
      <p:sp>
        <p:nvSpPr>
          <p:cNvPr id="7" name="Oval 6"/>
          <p:cNvSpPr/>
          <p:nvPr/>
        </p:nvSpPr>
        <p:spPr>
          <a:xfrm>
            <a:off x="5806440" y="4023360"/>
            <a:ext cx="868680" cy="86868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4069080"/>
            <a:ext cx="356616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500" b="1">
                <a:solidFill>
                  <a:srgbClr val="1F2937"/>
                </a:solidFill>
                <a:latin typeface="微软雅黑"/>
              </a:rPr>
              <a:t>对话历史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166360"/>
            <a:ext cx="11201400" cy="105156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991B1B"/>
                </a:solidFill>
                <a:latin typeface="微软雅黑"/>
              </a:rPr>
              <a:t>⚠ 踩过的坑：系统提示词把两者混在一起 → 模型「像没有记忆」｜修正：分开注入，记忆归记忆、资料归资料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知识点三：Function Calling（工具调用）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让大模型查真实库存，而不是编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2011680" cy="1097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50" b="0">
                <a:solidFill>
                  <a:srgbClr val="1F2937"/>
                </a:solidFill>
                <a:latin typeface="微软雅黑"/>
              </a:rPr>
              <a:t>用户问「A 商品还有多少库存」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51176" y="1956816"/>
            <a:ext cx="3657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98648" y="1554480"/>
            <a:ext cx="2011680" cy="1097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50" b="0">
                <a:solidFill>
                  <a:srgbClr val="1F2937"/>
                </a:solidFill>
                <a:latin typeface="微软雅黑"/>
              </a:rPr>
              <a:t>模型识别：需要调工具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46904" y="1956816"/>
            <a:ext cx="3657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294376" y="1554480"/>
            <a:ext cx="2011680" cy="1097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50" b="0">
                <a:solidFill>
                  <a:srgbClr val="1F2937"/>
                </a:solidFill>
                <a:latin typeface="微软雅黑"/>
              </a:rPr>
              <a:t>@Tool 查询方法执行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42632" y="1956816"/>
            <a:ext cx="3657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90104" y="1554480"/>
            <a:ext cx="2011680" cy="1097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50" b="0">
                <a:solidFill>
                  <a:srgbClr val="1F2937"/>
                </a:solidFill>
                <a:latin typeface="微软雅黑"/>
              </a:rPr>
              <a:t>查询数据库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738360" y="1956816"/>
            <a:ext cx="365760" cy="274320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085832" y="1554480"/>
            <a:ext cx="2011680" cy="1097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50" b="0">
                <a:solidFill>
                  <a:srgbClr val="1F2937"/>
                </a:solidFill>
                <a:latin typeface="微软雅黑"/>
              </a:rPr>
              <a:t>用真实数据回答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63240"/>
            <a:ext cx="73152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微软雅黑"/>
              </a:rPr>
              <a:t>已注册 4 个工具（WmsInventoryTools）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260604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2937"/>
                </a:solidFill>
                <a:latin typeface="微软雅黑"/>
              </a:rPr>
              <a:t>库存查询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55848" y="3566160"/>
            <a:ext cx="260604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2937"/>
                </a:solidFill>
                <a:latin typeface="微软雅黑"/>
              </a:rPr>
              <a:t>仓库查询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3566160"/>
            <a:ext cx="260604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2937"/>
                </a:solidFill>
                <a:latin typeface="微软雅黑"/>
              </a:rPr>
              <a:t>货主查询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3566160"/>
            <a:ext cx="2606040" cy="731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1F2937"/>
                </a:solidFill>
                <a:latin typeface="微软雅黑"/>
              </a:rPr>
              <a:t>商品查询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892040"/>
            <a:ext cx="11201400" cy="86868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65F46"/>
                </a:solidFill>
                <a:latin typeface="微软雅黑"/>
              </a:rPr>
              <a:t>核心价值：模型负责理解自然语言，数据必须来自数据库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知识点四：RAG 检索增强生成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四个步骤，一个都不能少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874519"/>
            <a:ext cx="2606040" cy="178308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96596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4E79"/>
                </a:solidFill>
                <a:latin typeface="微软雅黑"/>
              </a:rPr>
              <a:t>① 文本分块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把文档切成小块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CHUNK_SIZE=1000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重叠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1874519"/>
            <a:ext cx="2606040" cy="178308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03904" y="196596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4E79"/>
                </a:solidFill>
                <a:latin typeface="微软雅黑"/>
              </a:rPr>
              <a:t>② 向量化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text-embedding-v4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把文本变成向量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(bge-m3 1024维)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55664" y="1874519"/>
            <a:ext cx="2606040" cy="178308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0256" y="196596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4E79"/>
                </a:solidFill>
                <a:latin typeface="微软雅黑"/>
              </a:rPr>
              <a:t>③ 落库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存进向量库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Chroma / PGVector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72016" y="1874519"/>
            <a:ext cx="2606040" cy="1783080"/>
          </a:xfrm>
          <a:prstGeom prst="rect">
            <a:avLst/>
          </a:prstGeom>
          <a:solidFill>
            <a:srgbClr val="FBF8F5"/>
          </a:solidFill>
          <a:ln>
            <a:solidFill>
              <a:srgbClr val="E2D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36608" y="1965960"/>
            <a:ext cx="22860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F4E79"/>
                </a:solidFill>
                <a:latin typeface="微软雅黑"/>
              </a:rPr>
              <a:t>④ 相似度检索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问题向量化后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找最相似的 Top-K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E2E2E"/>
                </a:solidFill>
                <a:latin typeface="微软雅黑"/>
              </a:rPr>
              <a:t>k=3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931920"/>
            <a:ext cx="106070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900" b="1">
                <a:solidFill>
                  <a:srgbClr val="8C1C13"/>
                </a:solidFill>
                <a:latin typeface="微软雅黑"/>
              </a:rPr>
              <a:t>为什么需要 RAG？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大模型的知识有截止日期，也不知道你的私有资料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RAG = 先检索出相关资料，再把资料塞进 Prompt，让模型「看着材料回答」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E2E2E"/>
                </a:solidFill>
                <a:latin typeface="微软雅黑"/>
              </a:rPr>
              <a:t>好处：答案有依据、可溯源、不用重新训练模型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>
                <a:solidFill>
                  <a:srgbClr val="141414"/>
                </a:solidFill>
                <a:latin typeface="微软雅黑"/>
              </a:rPr>
              <a:t>03 · 项目内容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566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8C1C13"/>
                </a:solidFill>
                <a:latin typeface="微软雅黑"/>
              </a:rPr>
              <a:t>星辰WMS（Java 后端）+ QueryMind（RAG 问答）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星辰WMS：一套真实的仓储管理系统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面向中小仓储企业 · 传智播客提供教学基线 · 开发库 148 张业务表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651760" cy="1097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300" b="1">
                <a:solidFill>
                  <a:srgbClr val="2563EB"/>
                </a:solidFill>
                <a:latin typeface="微软雅黑"/>
              </a:rPr>
              <a:t>后端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1F2937"/>
                </a:solidFill>
                <a:latin typeface="微软雅黑"/>
              </a:rPr>
              <a:t>Java 17 · Spring Boot 3.4.5 · MyBatis-Plus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55848" y="1417320"/>
            <a:ext cx="2651760" cy="1097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300" b="1">
                <a:solidFill>
                  <a:srgbClr val="2563EB"/>
                </a:solidFill>
                <a:latin typeface="微软雅黑"/>
              </a:rPr>
              <a:t>平台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1F2937"/>
                </a:solidFill>
                <a:latin typeface="微软雅黑"/>
              </a:rPr>
              <a:t>JeecgBoot 3.8.1 · Shiro · JWT · Quartz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8776" y="1417320"/>
            <a:ext cx="2651760" cy="1097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300" b="1">
                <a:solidFill>
                  <a:srgbClr val="2563EB"/>
                </a:solidFill>
                <a:latin typeface="微软雅黑"/>
              </a:rPr>
              <a:t>前端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1F2937"/>
                </a:solidFill>
                <a:latin typeface="微软雅黑"/>
              </a:rPr>
              <a:t>Vue 3 · TS · Vite · Ant Design Vue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61704" y="1417320"/>
            <a:ext cx="2651760" cy="1097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300" b="1">
                <a:solidFill>
                  <a:srgbClr val="2563EB"/>
                </a:solidFill>
                <a:latin typeface="微软雅黑"/>
              </a:rPr>
              <a:t>数据/AI</a:t>
            </a:r>
          </a:p>
          <a:p>
            <a:pPr>
              <a:spcBef>
                <a:spcPts val="400"/>
              </a:spcBef>
            </a:pPr>
            <a:r>
              <a:rPr sz="1050" b="0">
                <a:solidFill>
                  <a:srgbClr val="1F2937"/>
                </a:solidFill>
                <a:latin typeface="微软雅黑"/>
              </a:rPr>
              <a:t>MySQL 8 · Redis · Spring AI + PGVector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43200"/>
            <a:ext cx="73152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微软雅黑"/>
              </a:rPr>
              <a:t>跑通的业务主链路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200400"/>
            <a:ext cx="1298448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  <a:latin typeface="微软雅黑"/>
              </a:rPr>
              <a:t>创建入库单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19656" y="3493008"/>
            <a:ext cx="182880" cy="219456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20240" y="3200400"/>
            <a:ext cx="1298448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  <a:latin typeface="微软雅黑"/>
              </a:rPr>
              <a:t>维护明细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236976" y="3493008"/>
            <a:ext cx="182880" cy="219456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37560" y="3200400"/>
            <a:ext cx="1298448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  <a:latin typeface="微软雅黑"/>
              </a:rPr>
              <a:t>提交审核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654296" y="3493008"/>
            <a:ext cx="182880" cy="219456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754880" y="3200400"/>
            <a:ext cx="1298448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  <a:latin typeface="微软雅黑"/>
              </a:rPr>
              <a:t>审核通过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071616" y="3493008"/>
            <a:ext cx="182880" cy="219456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3200400"/>
            <a:ext cx="1298448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  <a:latin typeface="微软雅黑"/>
              </a:rPr>
              <a:t>收货任务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488936" y="3493008"/>
            <a:ext cx="182880" cy="219456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3200400"/>
            <a:ext cx="1298448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  <a:latin typeface="微软雅黑"/>
              </a:rPr>
              <a:t>分次收货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06256" y="3493008"/>
            <a:ext cx="182880" cy="219456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840" y="3200400"/>
            <a:ext cx="1298448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  <a:latin typeface="微软雅黑"/>
              </a:rPr>
              <a:t>上架任务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323576" y="3493008"/>
            <a:ext cx="182880" cy="219456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424160" y="3200400"/>
            <a:ext cx="1298448" cy="86868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100" b="0">
                <a:solidFill>
                  <a:srgbClr val="1F2937"/>
                </a:solidFill>
                <a:latin typeface="微软雅黑"/>
              </a:rPr>
              <a:t>库存更新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34840"/>
            <a:ext cx="73152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F2937"/>
                </a:solidFill>
                <a:latin typeface="微软雅黑"/>
              </a:rPr>
              <a:t>测试证据（来自小组测试报告）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92040"/>
            <a:ext cx="210312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65F46"/>
                </a:solidFill>
                <a:latin typeface="微软雅黑"/>
              </a:rPr>
              <a:t>✓ 仓库管理 12/12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4892040"/>
            <a:ext cx="210312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65F46"/>
                </a:solidFill>
                <a:latin typeface="微软雅黑"/>
              </a:rPr>
              <a:t>✓ 入库状态机 16/16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4892040"/>
            <a:ext cx="210312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65F46"/>
                </a:solidFill>
                <a:latin typeface="微软雅黑"/>
              </a:rPr>
              <a:t>✓ 收货链路 16/16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4892040"/>
            <a:ext cx="210312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65F46"/>
                </a:solidFill>
                <a:latin typeface="微软雅黑"/>
              </a:rPr>
              <a:t>✓ 库存链路 16/16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46920" y="4892040"/>
            <a:ext cx="2103120" cy="7772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65F46"/>
                </a:solidFill>
                <a:latin typeface="微软雅黑"/>
              </a:rPr>
              <a:t>✓ Excel 导入导出 2 项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星辰WMS：分层架构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每一层负责什么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783080"/>
            <a:ext cx="192024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前端层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837943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  <a:latin typeface="微软雅黑"/>
              </a:rPr>
              <a:t>Vue 3 + Ant Design Vue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37943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页面、表单、权限按钮、Excel 与打印交互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62072"/>
            <a:ext cx="1920240" cy="86868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业务层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916936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  <a:latin typeface="微软雅黑"/>
              </a:rPr>
              <a:t>入库 / 收货 / 上架 / 库存 /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916936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状态机、事务、跨表一致性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941063"/>
            <a:ext cx="1920240" cy="86868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基础层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995927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  <a:latin typeface="微软雅黑"/>
              </a:rPr>
              <a:t>JeecgBoot + Shiro + JWT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995927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认证授权、数据字典、代码生成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5020055"/>
            <a:ext cx="1920240" cy="86868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数据层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5074919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41414"/>
                </a:solidFill>
                <a:latin typeface="微软雅黑"/>
              </a:rPr>
              <a:t>MySQL 8 + Redis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074919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业务持久化；会话、流水号、AI 记忆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星辰WMS：AI 仓库助手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把大模型接进业务系统，而不是做个聊天玩具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71600"/>
            <a:ext cx="11201400" cy="73152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92400E"/>
                </a:solidFill>
                <a:latin typeface="微软雅黑"/>
              </a:rPr>
              <a:t>接口 /ai/chat · /ai/chat/send　｜　Flux + SSE 流式返回（打字机效果）　｜　Shiro 放行 /ai/**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514600"/>
            <a:ext cx="3611880" cy="19202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/>
              </a:rPr>
              <a:t>能力① 会话记忆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Redis 按「用户 + 会话」维度存储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514600"/>
            <a:ext cx="3611880" cy="19202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/>
              </a:rPr>
              <a:t>能力② RAG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绑定知识库时用 PGVector 检索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2514600"/>
            <a:ext cx="3611880" cy="19202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/>
              </a:rPr>
              <a:t>能力③ 工具调用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WmsInventoryTools 提供实时业务数据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92040"/>
            <a:ext cx="11201400" cy="8229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0">
                <a:solidFill>
                  <a:srgbClr val="1F2937"/>
                </a:solidFill>
                <a:latin typeface="微软雅黑"/>
              </a:rPr>
              <a:t>核心代码（王源源报告）：user(content) → advisors(记忆) → advisors(RAG) → tools(库存工具) → Flux 流式返回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星辰WMS：我们没做完的部分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主动说清楚，比被问出来好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440680" cy="210312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DC2626"/>
                </a:solidFill>
                <a:latin typeface="微软雅黑"/>
              </a:rPr>
              <a:t>① 出库业务闭环未完成同等验证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入库链路 12+16+16+16 用例充分测试；出库只有代码，缺少同等测试覆盖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554480"/>
            <a:ext cx="5440680" cy="210312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DC2626"/>
                </a:solidFill>
                <a:latin typeface="微软雅黑"/>
              </a:rPr>
              <a:t>② AI 流式稳定性问题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部分 SSE 请求存在挂起 → 需要加重试与超时控制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86200"/>
            <a:ext cx="5440680" cy="210312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DC2626"/>
                </a:solidFill>
                <a:latin typeface="微软雅黑"/>
              </a:rPr>
              <a:t>③ 库存并发与幂等性需加强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已用 SQL 原子更新防数量覆盖；重复提交的幂等防护未做完整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886200"/>
            <a:ext cx="5440680" cy="210312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DC2626"/>
                </a:solidFill>
                <a:latin typeface="微软雅黑"/>
              </a:rPr>
              <a:t>④ 密钥治理与持续集成缺失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API Key 靠环境变量注入；尚未接入 CI 做自动化回归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943600"/>
            <a:ext cx="11201400" cy="7315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0">
                <a:solidFill>
                  <a:srgbClr val="1F2937"/>
                </a:solidFill>
                <a:latin typeface="微软雅黑"/>
              </a:rPr>
              <a:t>诚实比掩饰加分 —— 这些是下一阶段的目标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QueryMind：服装导购 RAG 问答系统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AI 大模型方向的实训项目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1201400" cy="105156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92400E"/>
                </a:solidFill>
                <a:latin typeface="微软雅黑"/>
              </a:rPr>
              <a:t>要解决的问题：「我 170cm、120 斤穿什么码」「真丝连衣裙怎么洗」—— 答案在商品资料里，但大模型不知道</a:t>
            </a:r>
          </a:p>
        </p:txBody>
      </p:sp>
      <p:pic>
        <p:nvPicPr>
          <p:cNvPr id="5" name="Picture 4" descr="dog_and_girl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051560"/>
            <a:ext cx="4069080" cy="271205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3063240"/>
            <a:ext cx="5486400" cy="18288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/>
              </a:rPr>
              <a:t>上传服务 :8502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上传商品资料 → 切块 → 向量化 → 入库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063240"/>
            <a:ext cx="5486400" cy="182880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/>
              </a:rPr>
              <a:t>问答服务 :8501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检索 → 组装 Prompt → 流式生成回答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66360"/>
            <a:ext cx="260604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</a:rPr>
              <a:t>CHUNK_SIZE=1000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5166360"/>
            <a:ext cx="260604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</a:rPr>
              <a:t>重叠 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5166360"/>
            <a:ext cx="260604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</a:rPr>
              <a:t>Top-K=3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1704" y="5166360"/>
            <a:ext cx="2606040" cy="6858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1F2937"/>
                </a:solidFill>
                <a:latin typeface="微软雅黑"/>
              </a:rPr>
              <a:t>Chroma 集合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126480"/>
            <a:ext cx="11201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微软雅黑"/>
              </a:rPr>
              <a:t>技术栈：Python 3.14 · uv · LangChain 1.4.0 · langchain-chroma 1.1.0 · DashScope text-embedding-v4 · qwen3.7-flash · Streamlit 1.64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QueryMind：实测数据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以下数字全部来自项目说明第 6 节实测记录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02920" y="1463040"/>
          <a:ext cx="51206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989320" y="1463040"/>
            <a:ext cx="5715000" cy="896112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00" b="0">
                <a:solidFill>
                  <a:srgbClr val="1F2937"/>
                </a:solidFill>
                <a:latin typeface="微软雅黑"/>
              </a:rPr>
              <a:t>“170cm / 120 斤”  → 推荐 L 码（165–175cm / 115–135斤）✓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2487168"/>
            <a:ext cx="5715000" cy="896112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00" b="0">
                <a:solidFill>
                  <a:srgbClr val="1F2937"/>
                </a:solidFill>
                <a:latin typeface="微软雅黑"/>
              </a:rPr>
              <a:t>“真丝连衣裙怎么洗”  → 干洗 · 手洗≤25℃ · 浸泡≤15分钟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3511296"/>
            <a:ext cx="5715000" cy="896112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00" b="0">
                <a:solidFill>
                  <a:srgbClr val="1F2937"/>
                </a:solidFill>
                <a:latin typeface="微软雅黑"/>
              </a:rPr>
              <a:t>追问“那羽绒服呢”  → 查询改写后命中洗涤养护 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4535424"/>
            <a:ext cx="5715000" cy="896112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>
              <a:spcBef>
                <a:spcPts val="400"/>
              </a:spcBef>
            </a:pPr>
            <a:r>
              <a:rPr sz="1200" b="0">
                <a:solidFill>
                  <a:srgbClr val="1F2937"/>
                </a:solidFill>
                <a:latin typeface="微软雅黑"/>
              </a:rPr>
              <a:t>“我多高”  → 从对话历史答出 180cm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5669280"/>
            <a:ext cx="178308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1F2937"/>
                </a:solidFill>
                <a:latin typeface="微软雅黑"/>
              </a:rPr>
              <a:t>知识库 3 文档 → 6 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27848" y="5669280"/>
            <a:ext cx="178308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1F2937"/>
                </a:solidFill>
                <a:latin typeface="微软雅黑"/>
              </a:rPr>
              <a:t>流式 36 片段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66376" y="5669280"/>
            <a:ext cx="1783080" cy="6400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100" b="1">
                <a:solidFill>
                  <a:srgbClr val="1F2937"/>
                </a:solidFill>
                <a:latin typeface="微软雅黑"/>
              </a:rPr>
              <a:t>记忆 2 写 2 读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QueryMind：四个真实 Bug 与修复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这部分是我们最有收获的地方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5440680" cy="210312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DC2626"/>
                </a:solidFill>
                <a:latin typeface="微软雅黑"/>
              </a:rPr>
              <a:t>① UploadedFile 没有 filename 属性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Streamlit 新版把 filename 改成 name / type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→ 改用 .name 和 .type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508760"/>
            <a:ext cx="5440680" cy="210312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DC2626"/>
                </a:solidFill>
                <a:latin typeface="微软雅黑"/>
              </a:rPr>
              <a:t>② 追问召回不准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「那羽绒服呢」没有主语，向量检索命中不到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→ 增加查询改写：补全主语再检索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79"/>
            <a:ext cx="5440680" cy="210312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DC2626"/>
                </a:solidFill>
                <a:latin typeface="微软雅黑"/>
              </a:rPr>
              <a:t>③ 模型「像没有记忆」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系统提示词把「知识库资料」和「对话历史」混在一起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→ 两者分开注入，各归各位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840479"/>
            <a:ext cx="5440680" cy="210312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DC2626"/>
                </a:solidFill>
                <a:latin typeface="微软雅黑"/>
              </a:rPr>
              <a:t>④ 400 Field required: input.contents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DashScope 原生 SDK 与 OpenAIEmbeddings 不兼容</a:t>
            </a:r>
          </a:p>
          <a:p>
            <a:pPr>
              <a:spcBef>
                <a:spcPts val="400"/>
              </a:spcBef>
            </a:pPr>
            <a:r>
              <a:rPr sz="1250" b="0">
                <a:solidFill>
                  <a:srgbClr val="1F2937"/>
                </a:solidFill>
                <a:latin typeface="微软雅黑"/>
              </a:rPr>
              <a:t>→ 改用 DashScope 原生 SDK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20140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微软雅黑"/>
              </a:rPr>
              <a:t>两个项目其实是一条技术线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914400"/>
            <a:ext cx="1120140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微软雅黑"/>
              </a:rPr>
              <a:t>Java 业务系统 + AI 能力，正好是我们实训的两周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5440680" cy="338328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2563EB"/>
                </a:solidFill>
                <a:latin typeface="微软雅黑"/>
              </a:rPr>
              <a:t>星辰WMS（周1 · Java）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把 AI 接进企业业务系统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wms/ai/chat 自然语言查库存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Spring AI + 工具调用 + RAG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技术栈：Java · Spring Boot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463040"/>
            <a:ext cx="5440680" cy="338328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52400" rIns="152400" tIns="114300" bIns="114300"/>
          <a:lstStyle/>
          <a:p>
            <a:pPr algn="ctr"/>
            <a:r>
              <a:rPr sz="1500" b="1">
                <a:solidFill>
                  <a:srgbClr val="059669"/>
                </a:solidFill>
                <a:latin typeface="微软雅黑"/>
              </a:rPr>
              <a:t>QueryMind（周2 · AI）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把 RAG 做深做透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独立完整的检索问答系统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LangChain + Chroma + 查询改写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1F2937"/>
                </a:solidFill>
                <a:latin typeface="微软雅黑"/>
              </a:rPr>
              <a:t>技术栈：Python · LangChain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257800"/>
            <a:ext cx="11201400" cy="86868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65F46"/>
                </a:solidFill>
                <a:latin typeface="微软雅黑"/>
              </a:rPr>
              <a:t>共同点：都是「让大模型基于真实资料回答」—— 一个面向业务数据，一个面向文档知识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分工介绍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12 位组员，每人一句——这一页由组员依次讲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8132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8C1C13"/>
                </a:solidFill>
                <a:latin typeface="微软雅黑"/>
              </a:rPr>
              <a:t>主讲人：王源源（全程串场）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4708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王源源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86537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仓储主数据 · 入库状态机 · 收货上架事务 · AI 助手接入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4708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高豪熙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0" y="186537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基础资料主档 · RAG 向量链路与距离算法 · 系统测试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7860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崔利杰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59689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仓库/储区/储位基础数据 · 数据字典 · 系统管理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57860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肖阳祯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259689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商品物料编码 · 入库单主从表与状态机 · 本地大模型接入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31012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方传正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32841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货主模块 · 环境搭建 · 接口测试与排错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31012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刘臣风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332841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货主与储位模块 · AI 助手 v0.1→v0.3 迭代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4164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吴梓欣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059935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出入库业务 · 库存盘点与预警 · 报表统计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4164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郝钰博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4059935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货主主档 · 仓库储位模块 · AI 对话机器人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77316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李少龙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479145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环境搭建与 Git · 货主储位模块 · 本地模型部署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477316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王子卓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4791456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数据库表结构设计 · 商品管理 · 库存预警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50468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于荣钊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22975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仓库储位主档 · 入库模块 · AI 智能体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50468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8C1C13"/>
                </a:solidFill>
                <a:latin typeface="微软雅黑"/>
              </a:rPr>
              <a:t>张浩毅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5522975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150" b="0">
                <a:solidFill>
                  <a:srgbClr val="2E2E2E"/>
                </a:solidFill>
                <a:latin typeface="微软雅黑"/>
              </a:rPr>
              <a:t>入库全链路闭环 · Web 打印 · AI 工具调用 · 测试报告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现场演示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两个项目，实际跑给你看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512064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8C1C13"/>
                </a:solidFill>
                <a:latin typeface="微软雅黑"/>
              </a:rPr>
              <a:t>演示一 · 星辰WMS（Java）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1. 启动后端 8080 + 前端 3100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2. admin 登录系统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3. 走一遍入库闭环：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   新增入库单（看 ASN 单号自动生成）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   维护明细 → 提交审核 → 审核通过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E2E2E"/>
                </a:solidFill>
                <a:latin typeface="微软雅黑"/>
              </a:rPr>
              <a:t>   创建收货任务 → 分次收货 → 上架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4. 查库存，看数量变化与流水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5. 打开 AI 助手，问「查一下库存」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2120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F4E79"/>
                </a:solidFill>
                <a:latin typeface="微软雅黑"/>
              </a:rPr>
              <a:t>演示二 · QueryMind（AI）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1. 打开 8501 问答页面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2. 问「我 170cm、120 斤穿什么码」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C1C13"/>
                </a:solidFill>
                <a:latin typeface="微软雅黑"/>
              </a:rPr>
              <a:t>   → 应回答 L 码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3. 问「真丝连衣裙怎么洗」→ 再追问「那羽绒服呢」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C1C13"/>
                </a:solidFill>
                <a:latin typeface="微软雅黑"/>
              </a:rPr>
              <a:t>   → 看查询改写是否生效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2E2E2E"/>
                </a:solidFill>
                <a:latin typeface="微软雅黑"/>
              </a:rPr>
              <a:t>4. 问「我多高」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C1C13"/>
                </a:solidFill>
                <a:latin typeface="微软雅黑"/>
              </a:rPr>
              <a:t>   → 看是否从对话历史答出 180cm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881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141414"/>
                </a:solidFill>
                <a:latin typeface="微软雅黑"/>
              </a:rPr>
              <a:t>答辩前最后确认清单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61320" cy="27940"/>
          </a:xfrm>
          <a:prstGeom prst="rect">
            <a:avLst/>
          </a:prstGeom>
          <a:solidFill>
            <a:srgbClr val="8C1C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A7A7A"/>
                </a:solidFill>
                <a:latin typeface="微软雅黑"/>
              </a:rPr>
              <a:t>今晚过一遍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700" b="0">
                <a:solidFill>
                  <a:srgbClr val="8C1C13"/>
                </a:solidFill>
                <a:latin typeface="微软雅黑"/>
              </a:rPr>
              <a:t>□ 主讲人：王源源（已定），其余 11 人对好自己的口径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8C1C13"/>
                </a:solidFill>
                <a:latin typeface="微软雅黑"/>
              </a:rPr>
              <a:t>□ 郝钰博 / 于荣钊 对好口径，不要讲重复内容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8C1C13"/>
                </a:solidFill>
                <a:latin typeface="微软雅黑"/>
              </a:rPr>
              <a:t>□ 吴梓欣 只讲业务功能，不报技术栈版本号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8C1C13"/>
                </a:solidFill>
                <a:latin typeface="微软雅黑"/>
              </a:rPr>
              <a:t>□ 王子卓 主攻需求分析与表结构，准备应对代码追问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2E2E2E"/>
                </a:solidFill>
                <a:latin typeface="微软雅黑"/>
              </a:rPr>
              <a:t>□ 现场演示提前完整跑一遍，数据库确认有数据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2E2E2E"/>
                </a:solidFill>
                <a:latin typeface="微软雅黑"/>
              </a:rPr>
              <a:t>□ 准备录屏备用，防止现场服务起不来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2E2E2E"/>
                </a:solidFill>
                <a:latin typeface="微软雅黑"/>
              </a:rPr>
              <a:t>□ 每人记住自己在第 21 页的那一句分工介绍</a:t>
            </a:r>
          </a:p>
          <a:p>
            <a:pPr algn="l">
              <a:spcAft>
                <a:spcPts val="1100"/>
              </a:spcAft>
            </a:pPr>
            <a:r>
              <a:rPr sz="1700" b="0">
                <a:solidFill>
                  <a:srgbClr val="8C1C13"/>
                </a:solidFill>
                <a:latin typeface="微软雅黑"/>
              </a:rPr>
              <a:t>□ 投影用「扩展模式 + 演示者视图」，备注只有演讲者能看到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4200" b="1">
                <a:solidFill>
                  <a:srgbClr val="141414"/>
                </a:solidFill>
                <a:latin typeface="微软雅黑"/>
              </a:rPr>
              <a:t>感谢聆听 · 请老师提问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703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8C1C13"/>
                </a:solidFill>
                <a:latin typeface="微软雅黑"/>
              </a:rPr>
              <a:t>十二组 · 星辰WMS × QueryMind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